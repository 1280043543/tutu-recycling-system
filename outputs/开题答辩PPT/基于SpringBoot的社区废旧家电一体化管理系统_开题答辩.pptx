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b41899925742bb" /><Relationship Type="http://schemas.openxmlformats.org/officeDocument/2006/relationships/extended-properties" Target="/docProps/app.xml" Id="R2f9654a04b7148c5" /><Relationship Type="http://schemas.openxmlformats.org/officeDocument/2006/relationships/officeDocument" Target="/ppt/presentation.xml" Id="R334d80b25f3142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f00b6c3dd94ac8"/>
  </p:sldMasterIdLst>
  <p:notesMasterIdLst>
    <p:notesMasterId xmlns:r="http://schemas.openxmlformats.org/officeDocument/2006/relationships" r:id="R15c7dd10b5ec4317"/>
  </p:notesMasterIdLst>
  <p:sldIdLst>
    <p:sldId xmlns:r="http://schemas.openxmlformats.org/officeDocument/2006/relationships" id="256" r:id="R8f2950acf56d4eac"/>
    <p:sldId xmlns:r="http://schemas.openxmlformats.org/officeDocument/2006/relationships" id="257" r:id="R744ea3f1fa2a42b2"/>
    <p:sldId xmlns:r="http://schemas.openxmlformats.org/officeDocument/2006/relationships" id="258" r:id="R0ac1ad1dfd714871"/>
    <p:sldId xmlns:r="http://schemas.openxmlformats.org/officeDocument/2006/relationships" id="259" r:id="Re432bbc1dc514014"/>
    <p:sldId xmlns:r="http://schemas.openxmlformats.org/officeDocument/2006/relationships" id="260" r:id="Rce3fed950c274cc5"/>
    <p:sldId xmlns:r="http://schemas.openxmlformats.org/officeDocument/2006/relationships" id="261" r:id="Rdc7c1c691fbd41eb"/>
    <p:sldId xmlns:r="http://schemas.openxmlformats.org/officeDocument/2006/relationships" id="262" r:id="Rdb979bc4db234238"/>
    <p:sldId xmlns:r="http://schemas.openxmlformats.org/officeDocument/2006/relationships" id="263" r:id="R02d0aa630a144a42"/>
    <p:sldId xmlns:r="http://schemas.openxmlformats.org/officeDocument/2006/relationships" id="264" r:id="R3c90f32773844c57"/>
    <p:sldId xmlns:r="http://schemas.openxmlformats.org/officeDocument/2006/relationships" id="265" r:id="R4b0dc40bf85a42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c093cca8f343a2" /><Relationship Type="http://schemas.openxmlformats.org/officeDocument/2006/relationships/slideMaster" Target="/ppt/slideMasters/slideMaster1.xml" Id="R3af00b6c3dd94ac8" /><Relationship Type="http://schemas.openxmlformats.org/officeDocument/2006/relationships/notesMaster" Target="/ppt/notesMasters/notesMaster1.xml" Id="R15c7dd10b5ec4317" /><Relationship Type="http://schemas.openxmlformats.org/officeDocument/2006/relationships/presProps" Target="/ppt/presProps.xml" Id="Ra701c3e77858457d" /><Relationship Type="http://schemas.openxmlformats.org/officeDocument/2006/relationships/tableStyles" Target="/ppt/tableStyles.xml" Id="R98b3442d066b49df" /><Relationship Type="http://schemas.openxmlformats.org/officeDocument/2006/relationships/slide" Target="/ppt/slides/slide1.xml" Id="R8f2950acf56d4eac" /><Relationship Type="http://schemas.openxmlformats.org/officeDocument/2006/relationships/slide" Target="/ppt/slides/slide2.xml" Id="R744ea3f1fa2a42b2" /><Relationship Type="http://schemas.openxmlformats.org/officeDocument/2006/relationships/slide" Target="/ppt/slides/slide3.xml" Id="R0ac1ad1dfd714871" /><Relationship Type="http://schemas.openxmlformats.org/officeDocument/2006/relationships/slide" Target="/ppt/slides/slide4.xml" Id="Re432bbc1dc514014" /><Relationship Type="http://schemas.openxmlformats.org/officeDocument/2006/relationships/slide" Target="/ppt/slides/slide5.xml" Id="Rce3fed950c274cc5" /><Relationship Type="http://schemas.openxmlformats.org/officeDocument/2006/relationships/slide" Target="/ppt/slides/slide6.xml" Id="Rdc7c1c691fbd41eb" /><Relationship Type="http://schemas.openxmlformats.org/officeDocument/2006/relationships/slide" Target="/ppt/slides/slide7.xml" Id="Rdb979bc4db234238" /><Relationship Type="http://schemas.openxmlformats.org/officeDocument/2006/relationships/slide" Target="/ppt/slides/slide8.xml" Id="R02d0aa630a144a42" /><Relationship Type="http://schemas.openxmlformats.org/officeDocument/2006/relationships/slide" Target="/ppt/slides/slide9.xml" Id="R3c90f32773844c57" /><Relationship Type="http://schemas.openxmlformats.org/officeDocument/2006/relationships/slide" Target="/ppt/slides/slide10.xml" Id="R4b0dc40bf85a42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9398c8dd7f43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e74cf254d046a1" /><Relationship Type="http://schemas.openxmlformats.org/officeDocument/2006/relationships/notesMaster" Target="/ppt/notesMasters/notesMaster1.xml" Id="R4065f0bc033346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1d720d9aacd4034" /><Relationship Type="http://schemas.openxmlformats.org/officeDocument/2006/relationships/notesMaster" Target="/ppt/notesMasters/notesMaster1.xml" Id="R2024b7ee2f8543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36ce6ad21d4603" /><Relationship Type="http://schemas.openxmlformats.org/officeDocument/2006/relationships/notesMaster" Target="/ppt/notesMasters/notesMaster1.xml" Id="Rf708356306e64c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b274ac847f4e7f" /><Relationship Type="http://schemas.openxmlformats.org/officeDocument/2006/relationships/notesMaster" Target="/ppt/notesMasters/notesMaster1.xml" Id="R50bc3a74085b4f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618c04667140dc" /><Relationship Type="http://schemas.openxmlformats.org/officeDocument/2006/relationships/notesMaster" Target="/ppt/notesMasters/notesMaster1.xml" Id="R05fc281e2a324c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1c77075ef04ccc" /><Relationship Type="http://schemas.openxmlformats.org/officeDocument/2006/relationships/notesMaster" Target="/ppt/notesMasters/notesMaster1.xml" Id="Rb75ed01e062347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3ca4bd11674559" /><Relationship Type="http://schemas.openxmlformats.org/officeDocument/2006/relationships/notesMaster" Target="/ppt/notesMasters/notesMaster1.xml" Id="R3dced08b07c545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f3e7b045fa4994" /><Relationship Type="http://schemas.openxmlformats.org/officeDocument/2006/relationships/notesMaster" Target="/ppt/notesMasters/notesMaster1.xml" Id="Rf7cbe3e9305d4b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7e3f69f9114e6d" /><Relationship Type="http://schemas.openxmlformats.org/officeDocument/2006/relationships/notesMaster" Target="/ppt/notesMasters/notesMaster1.xml" Id="R75e0ee89527649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8b31e76da34cb5" /><Relationship Type="http://schemas.openxmlformats.org/officeDocument/2006/relationships/notesMaster" Target="/ppt/notesMasters/notesMaster1.xml" Id="Rd51e7b2bf2e344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开场说明本课题围绕图图社区的废旧家电回收服务展开，目标是完成从居民预约到回收结果确认的线上管理流程。汇报人和指导教师信息可在答辩前补充。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背景部分不引用未经核实的行业统计数据，主要从本课题确定的社区业务场景说明问题：角色之间需要多次交接，订单状态与现场结果需要有统一记录。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强调本项目的价值以流程规范和信息透明为主，不涉及废旧家电估价或金额结算。现场登记与居民确认是闭环的重要环节。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此页将研究内容凝练成四个关键问题。后续设计分别通过状态机与事务、JWT 和角色校验、订单明细与回收结果明细、操作日志来回应。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解释流程状态：审核后待分派；派发后需回收人员确认接单，再开始作业；现场按品类提交实收数量和重量；居民确认后完成。居民取消规则与既定需求一致。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简要介绍技术选型和研究方法。这里的测试以接口和业务流程验证为主。Spring Security 与 JWT 负责鉴权，数据库保存用户角色和订单状态；Apifox 用于人工联调。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架构图和数据关系图均为可编辑对象。数据模型涵盖用户、地址、品类、订单及明细、回收记录及结果明细、操作日志和服务评价。强调订单地址快照、分品类结果以及不记录金额。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区分已完成工作与预期效果。已完成项来自今天讨论和实际联调：文档、数据库、后端、前端和 Apifox 验证。完整的三角色全链路仍作为后续工作，不声称已全部验收。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计划采用阶段描述而非虚构日期。建议后续首先完成回收人员接单、开始回收、登记结果，再用居民账号确认闭环；随后补充取消、异常和权限场景的验证。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答辩结束页。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c665b6d98445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4df470f7134c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fe8c015d743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eee25adbbc4e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dcaebf309b44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3e551b512f4a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CB89880-D6B1-46EF-907B-A04BD20F69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B86A7F-3D6D-4625-99CA-3C28DD75480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035383A-494E-430E-AC99-2349EFD911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4F1FB1E-B13B-43D1-9318-41EF8E0E24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13CC2B-BD14-4455-9957-AB7735F2C1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6798190-6A4B-4A4A-B1E3-23401E83C6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69E0BC-7BF6-4BB3-B6EB-89AC44A992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F8273EB-9D6C-493E-A1FD-3DC9316C52F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5048AD-C68C-4292-B245-78424B3832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23879F-A24F-4633-A808-60C6046407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860fb82fdd4c65" /><Relationship Type="http://schemas.openxmlformats.org/officeDocument/2006/relationships/slideLayout" Target="/ppt/slideLayouts/slideLayout1.xml" Id="Rfa6f42d798b643bf" /><Relationship Type="http://schemas.openxmlformats.org/officeDocument/2006/relationships/slideLayout" Target="/ppt/slideLayouts/slideLayout2.xml" Id="Rb7f7824c7e8f48e9" /><Relationship Type="http://schemas.openxmlformats.org/officeDocument/2006/relationships/slideLayout" Target="/ppt/slideLayouts/slideLayout3.xml" Id="Rb0878db7973a45a3" /><Relationship Type="http://schemas.openxmlformats.org/officeDocument/2006/relationships/slideLayout" Target="/ppt/slideLayouts/slideLayout4.xml" Id="R3c811997a25943f2" /><Relationship Type="http://schemas.openxmlformats.org/officeDocument/2006/relationships/slideLayout" Target="/ppt/slideLayouts/slideLayout5.xml" Id="R8a55365ec92c4f80" /><Relationship Type="http://schemas.openxmlformats.org/officeDocument/2006/relationships/slideLayout" Target="/ppt/slideLayouts/slideLayout6.xml" Id="R924360d3c6e642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6f42d798b643bf"/>
    <p:sldLayoutId xmlns:r="http://schemas.openxmlformats.org/officeDocument/2006/relationships" id="2147483650" r:id="Rb7f7824c7e8f48e9"/>
    <p:sldLayoutId xmlns:r="http://schemas.openxmlformats.org/officeDocument/2006/relationships" id="2147483651" r:id="Rb0878db7973a45a3"/>
    <p:sldLayoutId xmlns:r="http://schemas.openxmlformats.org/officeDocument/2006/relationships" id="2147483652" r:id="R3c811997a25943f2"/>
    <p:sldLayoutId xmlns:r="http://schemas.openxmlformats.org/officeDocument/2006/relationships" id="2147483653" r:id="R8a55365ec92c4f80"/>
    <p:sldLayoutId xmlns:r="http://schemas.openxmlformats.org/officeDocument/2006/relationships" id="2147483654" r:id="R924360d3c6e642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a72dea7fd74fd9" /><Relationship Type="http://schemas.openxmlformats.org/officeDocument/2006/relationships/notesSlide" Target="/ppt/notesSlides/notesSlide1.xml" Id="Rc32790ba217f46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b60ddb24a44806" /><Relationship Type="http://schemas.openxmlformats.org/officeDocument/2006/relationships/notesSlide" Target="/ppt/notesSlides/notesSlide2.xml" Id="R109f322fcde644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2c6a652f0a497e" /><Relationship Type="http://schemas.openxmlformats.org/officeDocument/2006/relationships/notesSlide" Target="/ppt/notesSlides/notesSlide3.xml" Id="R31adff78fd9547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7c32a062a74f13" /><Relationship Type="http://schemas.openxmlformats.org/officeDocument/2006/relationships/notesSlide" Target="/ppt/notesSlides/notesSlide4.xml" Id="Rb0dc9b934a6340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9735c7dad94dc4" /><Relationship Type="http://schemas.openxmlformats.org/officeDocument/2006/relationships/notesSlide" Target="/ppt/notesSlides/notesSlide5.xml" Id="R1fe7389dd5a048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cfab1d962f4256" /><Relationship Type="http://schemas.openxmlformats.org/officeDocument/2006/relationships/notesSlide" Target="/ppt/notesSlides/notesSlide6.xml" Id="R0cb89586c6a84a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eec3a5b4e5425a" /><Relationship Type="http://schemas.openxmlformats.org/officeDocument/2006/relationships/notesSlide" Target="/ppt/notesSlides/notesSlide7.xml" Id="Rbffb7648939f41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2605acdc6e4d20" /><Relationship Type="http://schemas.openxmlformats.org/officeDocument/2006/relationships/notesSlide" Target="/ppt/notesSlides/notesSlide8.xml" Id="Rb7a34c42ea564b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c03c9d2ab549a3" /><Relationship Type="http://schemas.openxmlformats.org/officeDocument/2006/relationships/notesSlide" Target="/ppt/notesSlides/notesSlide9.xml" Id="R60b796a19fb94c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806b02322c48ae" /><Relationship Type="http://schemas.openxmlformats.org/officeDocument/2006/relationships/notesSlide" Target="/ppt/notesSlides/notesSlide10.xml" Id="R7d982f0bf76248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43EF8-F978-4E01-BD45-BD6DC3F6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00100"/>
            <a:ext cx="76200" cy="4667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2AD77"/>
          </a:solidFill>
          <a:ln xmlns:a="http://schemas.openxmlformats.org/drawingml/2006/main" w="9525">
            <a:solidFill>
              <a:srgbClr val="82AD7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D30662-C092-41CA-BDD2-EBE9328F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9906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BCD5B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BCD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CD5B6"/>
                </a:solidFill>
                <a:latin typeface="Microsoft YaHei"/>
                <a:ea typeface="Microsoft YaHei"/>
                <a:cs typeface="Microsoft YaHei"/>
              </a:rPr>
              <a:t>开题答辩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82F7C-E002-4D3B-92A6-31716F52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19250"/>
            <a:ext cx="96202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 Spring Boot 的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4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社区废旧家电一体化管理系统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4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设计与实现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8F8EA-F013-44D2-B2E2-E3AD18E5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3862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3E2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D3E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3E2D0"/>
                </a:solidFill>
                <a:latin typeface="Microsoft YaHei"/>
                <a:ea typeface="Microsoft YaHei"/>
                <a:cs typeface="Microsoft YaHei"/>
              </a:rPr>
              <a:t>以图图社区为应用场景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23681-AEB5-4B19-9C1B-BC1F86ED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95875"/>
            <a:ext cx="967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5766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998B29-377B-4EA3-8A03-29F6EEFD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0542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D3E2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D3E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D3E2D0"/>
                </a:solidFill>
                <a:latin typeface="Microsoft YaHei"/>
                <a:ea typeface="Microsoft YaHei"/>
                <a:cs typeface="Microsoft YaHei"/>
              </a:rPr>
              <a:t>汇报人：__________     指导教师：__________     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20816271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188206-0859-469F-9EA5-38A3C345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01 研究背景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CD55FD-1BE4-49D7-8653-8786EACB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51"/>
          </a:bodyPr>
          <a:lstStyle xmlns:a="http://schemas.openxmlformats.org/drawingml/2006/main">
            <a:defPPr algn="l">
              <a:def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研究背景：社区回收流程仍依赖人工衔接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8CB6EE-3D09-4BE6-9E18-10C2AC6A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本课题关注社区内从回收预约到结果确认的日常业务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1455D-90E8-4C48-8479-BD4F7BE3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75D91-825A-4E99-86EE-704CEA7E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图图社区 · 社区废旧家电一体化管理系统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6DD435-C658-4D73-A596-7E590B6E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687126-F71C-4C35-AB43-791A2CF4A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82AD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82A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82AD7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3712F-B181-4B2F-9806-916670F7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764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居民侧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63139-8B61-4051-9355-C8619CCE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145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4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1ABFF-F59A-4E50-9AAA-9BE7453A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764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预约入口分散，地址、品类和上门时间需要重复沟通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712FB9-50C5-4BA5-A1EC-27DFDB22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47975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2F5CE-579C-4E56-ADCB-458234B2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82AD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82A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82AD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819A72-4754-4F40-9571-CAC850C6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1432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管理侧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C5E9D-DB33-4602-A72A-16057A38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813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4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0CDD4-4470-4B57-A55E-F1D16656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432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审核、派单与异常协调依赖人工传递，订单状态不易统一跟踪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62EA9B-34EF-4117-B926-25B6A719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914775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F5C596-EDCA-449A-A6B8-0C04F8B7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0050"/>
            <a:ext cx="57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82AD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82A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82AD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EBE77-BDFA-4627-908C-DA947F23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100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作业侧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391C1-47A3-465A-B696-85B28D08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48150"/>
            <a:ext cx="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CE4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061043-5164-4B7A-A563-E9C64999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10050"/>
            <a:ext cx="733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现场实际回收数量与重量需要及时登记，并反馈给居民确认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E66C9F-35A1-4174-A575-75685209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292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研究对象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4F5278-5B50-42AB-9092-EA3FA382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81625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居民 · 管理员 · 回收人员</a:t>
            </a:r>
          </a:p>
        </p:txBody>
      </p:sp>
    </p:spTree>
    <p:extLst>
      <p:ext uri="{BB962C8B-B14F-4D97-AF65-F5344CB8AC3E}">
        <p14:creationId xmlns:p14="http://schemas.microsoft.com/office/powerpoint/2010/main" val="3034356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A76558-48D2-463E-A941-369BBCF6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02 研究意义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A92A1-7622-46BF-AC76-9895512A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51"/>
          </a:bodyPr>
          <a:lstStyle xmlns:a="http://schemas.openxmlformats.org/drawingml/2006/main">
            <a:defPPr algn="l">
              <a:def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研究意义：让预约、作业与结果处在同一流程中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55744-F01A-4FE6-ADFF-ADB2542A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围绕社区管理、居民使用和回收执行形成可追踪记录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8EFCC-E19A-4E62-A455-DCAF6843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BF10F-8357-444C-8330-1971D7C1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图图社区 · 社区废旧家电一体化管理系统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B4D2A-4DDD-466C-88CA-B74C0797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0AA6C1-C79D-4806-A2DB-082ABC38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82AD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82A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2AD7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3D3E1-BD92-46E1-A425-67BB2FB6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居民服务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47D06-1FE9-44A7-9B90-5479AD93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7A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0708A-0656-4629-AD7F-19CD6437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23336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自助登记回收需求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查看订单进度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确认实际回收结果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67732-994C-4299-8AD0-7DF52E18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238375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82AD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82A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2AD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08367-CEF9-4FA9-97A4-ACC5F927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8956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社区管理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91DDF-3800-4703-840F-B511B242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48050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ECC48-484B-44FB-88AE-B44C6F77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676650"/>
            <a:ext cx="23336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集中审核与派单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查看异常订单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减少重复沟通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876865-5E2C-4A04-AD18-228645FF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38375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82AD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82A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2AD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F014FA-C0D6-48DD-BBE0-775750C1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回收执行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0949F-EC58-4E9E-8697-16FA683F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48050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26669-0417-407D-8F69-74A1A501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76650"/>
            <a:ext cx="23336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接收个人任务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按品类登记数量、重量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反馈现场情况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2E2E54-28F1-4A25-A5DF-F4AA0CD2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238375"/>
            <a:ext cx="55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82AD77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82AD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82AD7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DC9B9-D288-461E-9DDF-422CB5F8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8956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数据沉淀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FE6702-0E70-4F83-B472-D53E8E70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448050"/>
            <a:ext cx="2114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E92EA0-8269-4C1E-848D-CEC7E18C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676650"/>
            <a:ext cx="2333625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保存状态变更记录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汇总品类数量与重量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为后续管理提供依据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F0FD27-4474-46B4-BCDE-C93B9007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14975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本系统不进行回收金额结算，仅记录实际回收数量与重量。</a:t>
            </a:r>
          </a:p>
        </p:txBody>
      </p:sp>
    </p:spTree>
    <p:extLst>
      <p:ext uri="{BB962C8B-B14F-4D97-AF65-F5344CB8AC3E}">
        <p14:creationId xmlns:p14="http://schemas.microsoft.com/office/powerpoint/2010/main" val="13732145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D15254-B7F9-4C9D-ABA7-F5C4C746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03 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07B4B-08C1-4959-A3B4-03038988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51"/>
          </a:bodyPr>
          <a:lstStyle xmlns:a="http://schemas.openxmlformats.org/drawingml/2006/main">
            <a:defPPr algn="l">
              <a:def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拟解决的关键问题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3809C-267F-4D7C-AF90-F7D38D54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把业务规则转化为明确的数据约束、权限边界和状态流转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D6B9C-6521-40FB-9116-6CD0B7A0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8EC37-51D1-4F7B-9971-B4A3D9A0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图图社区 · 社区废旧家电一体化管理系统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0E060-2D6E-44BC-BCCB-3ABFC225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31EA2-87DF-4849-B035-20E83D21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3672F-53E8-4E38-B56C-10D19AC3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955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流程如何闭环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78D13-DDBF-4E51-85BA-0E623610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5270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如何覆盖居民申请、管理员审核分派、回收人员作业与居民确认？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610A2F-7FF9-4AA3-A46E-FBD015F2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76625"/>
            <a:ext cx="407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BD9FEF-8F57-495C-BFC5-FABAF9FF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456D2-BC88-4007-B391-85CFD802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角色如何隔离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CFBA9-36BB-4707-A950-D7337CFC4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5270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如何保证居民只能操作本人订单，回收人员只能处理分派给自己的任务？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05A9D2-CBAC-411A-B3F8-566C3E41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76625"/>
            <a:ext cx="407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E01B7-2A6B-4640-9D97-D6623E77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FE4264-D98C-49F2-BD9C-A270F5B4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结果如何一致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33DB33-2C30-403A-9444-DBD86251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如何按回收品类分别记录实际数量与重量，并以居民确认作为完成条件？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E12977-8833-4604-A248-31C9CF5C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67325"/>
            <a:ext cx="407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CF0E0A-5CAE-4C5D-B04E-D8FF0DFC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86200"/>
            <a:ext cx="57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D0A32D-E523-47DD-BA0A-20973C79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状态如何可追溯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D6ED3-10C9-4D35-9172-B2DDA58E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4340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50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如何约束取消、驳回、拒绝接单和异常处理等状态变化？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05D350-62F6-4EB0-83F7-AD9ECD6B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67325"/>
            <a:ext cx="407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713533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05533B-25C0-4EEE-92FB-5FE3DCBA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04 研究内容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1D27A-8558-4B98-A69C-45456D21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51"/>
          </a:bodyPr>
          <a:lstStyle xmlns:a="http://schemas.openxmlformats.org/drawingml/2006/main">
            <a:defPPr algn="l">
              <a:def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核心业务流程与订单状态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31541-E674-4667-B8C7-70A2BCF4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居民确认回收结果后，订单才进入已完成状态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1E5E8-5FC3-496D-8216-B0E52174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8BC2B-0AB4-4FE6-8BFF-B42283707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图图社区 · 社区废旧家电一体化管理系统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AD79E-08E2-4114-B2A2-7CCB34F77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workflow-0">
            <a:extLst xmlns:a="http://schemas.openxmlformats.org/drawingml/2006/main">
              <a:ext uri="{FF2B5EF4-FFF2-40B4-BE49-F238E27FC236}">
                <a16:creationId xmlns:a16="http://schemas.microsoft.com/office/drawing/2014/main" id="{90A1A37D-4382-4464-A4E9-38927F97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6859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8F0E6"/>
          </a:solidFill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BA1B79-9AD3-45D1-9159-D6C97317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居民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A7BD5-1C65-4D9D-804B-1E4B095D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33725"/>
            <a:ext cx="1533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提交申请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C4E74-F81A-4849-9813-1B6F5466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971800"/>
            <a:ext cx="13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4025"/>
          </a:bodyPr>
          <a:lstStyle xmlns:a="http://schemas.openxmlformats.org/drawingml/2006/main">
            <a:defPPr algn="ctr">
              <a:defRPr sz="16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workflow-1">
            <a:extLst xmlns:a="http://schemas.openxmlformats.org/drawingml/2006/main">
              <a:ext uri="{FF2B5EF4-FFF2-40B4-BE49-F238E27FC236}">
                <a16:creationId xmlns:a16="http://schemas.microsoft.com/office/drawing/2014/main" id="{B2B569AC-50FB-4497-8E59-300C9A28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647950"/>
            <a:ext cx="16859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FEFA43-5A7F-4396-A576-FCE5EC3A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098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A2E18-B5DA-4932-BAD0-665CA8E0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133725"/>
            <a:ext cx="1533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审核通过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1A32C5-A4ED-426B-9934-927F569C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71800"/>
            <a:ext cx="13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4025"/>
          </a:bodyPr>
          <a:lstStyle xmlns:a="http://schemas.openxmlformats.org/drawingml/2006/main">
            <a:defPPr algn="ctr">
              <a:defRPr sz="16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workflow-2">
            <a:extLst xmlns:a="http://schemas.openxmlformats.org/drawingml/2006/main">
              <a:ext uri="{FF2B5EF4-FFF2-40B4-BE49-F238E27FC236}">
                <a16:creationId xmlns:a16="http://schemas.microsoft.com/office/drawing/2014/main" id="{91CF5F50-3CD6-4B72-A9A7-37673171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47950"/>
            <a:ext cx="16859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23EE72-1A2D-4428-954C-5145664E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098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管理员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50CA06-6FCF-470B-8682-85EF42E5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33725"/>
            <a:ext cx="1533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分派人员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A196A4-895B-4FFA-9CCB-4DA36CB8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971800"/>
            <a:ext cx="13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4025"/>
          </a:bodyPr>
          <a:lstStyle xmlns:a="http://schemas.openxmlformats.org/drawingml/2006/main">
            <a:defPPr algn="ctr">
              <a:defRPr sz="16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workflow-3">
            <a:extLst xmlns:a="http://schemas.openxmlformats.org/drawingml/2006/main">
              <a:ext uri="{FF2B5EF4-FFF2-40B4-BE49-F238E27FC236}">
                <a16:creationId xmlns:a16="http://schemas.microsoft.com/office/drawing/2014/main" id="{852FB293-E903-440B-AFE1-F450BE0F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647950"/>
            <a:ext cx="16859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C5AF42-94DF-4449-8787-CDFCB2C0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098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回收人员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3C5DFA-2D9A-49D9-806E-BB489FFD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133725"/>
            <a:ext cx="1533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接单并作业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7D19AA-1409-4632-9B06-E14B7F84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71800"/>
            <a:ext cx="13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4025"/>
          </a:bodyPr>
          <a:lstStyle xmlns:a="http://schemas.openxmlformats.org/drawingml/2006/main">
            <a:defPPr algn="ctr">
              <a:defRPr sz="16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workflow-4">
            <a:extLst xmlns:a="http://schemas.openxmlformats.org/drawingml/2006/main">
              <a:ext uri="{FF2B5EF4-FFF2-40B4-BE49-F238E27FC236}">
                <a16:creationId xmlns:a16="http://schemas.microsoft.com/office/drawing/2014/main" id="{3392CCC5-F001-40BE-9087-50D3AF85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47950"/>
            <a:ext cx="16859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5ADA6E-F622-4028-8C25-D42FB6D0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098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回收人员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078613-CF5E-4FFF-A0CF-2A2D412F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33725"/>
            <a:ext cx="1533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登记数量与重量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170C35-DE28-4BB0-8ADE-8015DDD5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971800"/>
            <a:ext cx="133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64025"/>
          </a:bodyPr>
          <a:lstStyle xmlns:a="http://schemas.openxmlformats.org/drawingml/2006/main">
            <a:defPPr algn="ctr">
              <a:defRPr sz="16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workflow-5">
            <a:extLst xmlns:a="http://schemas.openxmlformats.org/drawingml/2006/main">
              <a:ext uri="{FF2B5EF4-FFF2-40B4-BE49-F238E27FC236}">
                <a16:creationId xmlns:a16="http://schemas.microsoft.com/office/drawing/2014/main" id="{FB0A2BC8-1DC1-4422-A0D0-ED60CD18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647950"/>
            <a:ext cx="1685925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E8F0E6"/>
          </a:solidFill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38FA12-D5BB-4797-BDF8-C0ED073D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09875"/>
            <a:ext cx="1457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居民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9814CB-DC41-47C2-94DC-DA2B27E5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133725"/>
            <a:ext cx="15335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5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确认结果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63C992-ECF4-476B-9343-D1F7CE0E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314825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订单状态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FF862D-47AA-4C2C-BC62-EA54B380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2481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D30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D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302B"/>
                </a:solidFill>
                <a:latin typeface="Microsoft YaHei"/>
                <a:ea typeface="Microsoft YaHei"/>
                <a:cs typeface="Microsoft YaHei"/>
              </a:rPr>
              <a:t>待审核 → 待分派 → 待接单 → 已接单 → 回收中 → 待居民确认 → 已完成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BFA33C-6511-4D8D-94DB-61BDF217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030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87D6EA-3158-4A70-813A-652F7DB4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1054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关键规则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874AAC-A1B3-4D9B-8724-030E29750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5029200"/>
            <a:ext cx="876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居民仅可在待审核、待分派时取消；分派后由管理员处理取消或异常。</a:t>
            </a:r>
          </a:p>
        </p:txBody>
      </p:sp>
    </p:spTree>
    <p:extLst>
      <p:ext uri="{BB962C8B-B14F-4D97-AF65-F5344CB8AC3E}">
        <p14:creationId xmlns:p14="http://schemas.microsoft.com/office/powerpoint/2010/main" val="4419517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5AABAE-76D4-4FA2-B039-391FED2C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05 技术方法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4DD04-C56C-4E3B-A06B-33E6E40C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51"/>
          </a:bodyPr>
          <a:lstStyle xmlns:a="http://schemas.openxmlformats.org/drawingml/2006/main">
            <a:defPPr algn="l">
              <a:def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技术方法：分层实现并以接口联调验证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370F7-29F2-4C12-866E-A77949B0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前后端分离，围绕 REST API 开展迭代开发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12D82-1B9D-4752-BDBA-07159F8C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7BDD7-56DB-43E9-88B7-6E9F1DAF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图图社区 · 社区废旧家电一体化管理系统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B3B9F-48A3-4513-ABF2-9ADB773F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F1A90-97D5-41B8-8391-6D7EB2DB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907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475A3C-DDD0-4C30-BBD0-509B9601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71675"/>
            <a:ext cx="3762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Vue 3 · Vite · Axios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018B03-A887-457F-9910-71D23AB4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8600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角色页面、表单校验、订单状态展示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983D7-BC76-44A9-B63D-5235D610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64795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AEB23-2408-4BF0-89F4-A4F565CF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5B3853-BA3C-44DC-8765-8DE84C8A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62250"/>
            <a:ext cx="3762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Spring Boot 2.7 · Java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D14C4-2735-47EB-A51B-C450D9F5E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7657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REST 接口、业务校验、事务控制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882792-9139-4871-860F-2D8A6EE2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38525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11DF0-7EED-48DB-830A-3888D373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权限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C14715-85B8-40C1-8FBC-C94F490D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52825"/>
            <a:ext cx="3762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Spring Security · JWT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115C74-38C8-45A0-A149-17E431ED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6715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登录认证、角色授权、本人数据范围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9DEC4-EC85-4E56-91C6-9ABE39B96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2910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1F604D-59C3-43AB-9D64-5043FB1E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624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E0CEDB-BD86-4ABF-8E78-4E9CED61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43400"/>
            <a:ext cx="3762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MyBatis-Plus · MySQL 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15C755-D40E-40B7-A92B-11B1A90A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577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关系表、外键约束、分页和统计查询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F93EDC-8863-45A1-BD23-424A112E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9675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205F68-3204-45E9-A7D6-A83B9C4D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5302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联调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5B7057-4132-45B1-A1C6-C0F43C63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133975"/>
            <a:ext cx="3762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OpenAPI · Apifox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BDF2D8-7C17-4437-8AB7-1D05AFC0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448300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接口定义、请求验证、业务流程检查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AEE675-A1EC-4718-95B2-2E38260E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981200"/>
            <a:ext cx="0" cy="384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D714AE-1E0B-48C9-B6E1-D4DD6AD3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955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研究方法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AFA3A4-3228-4535-835B-146628E8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4795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CAEB8C-C25B-43FF-A009-B7F0BB7C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6479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30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D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302B"/>
                </a:solidFill>
                <a:latin typeface="Microsoft YaHei"/>
                <a:ea typeface="Microsoft YaHei"/>
                <a:cs typeface="Microsoft YaHei"/>
              </a:rPr>
              <a:t>需求分析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E3FFD5-C355-4272-828A-E0E58AA4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9432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梳理居民、管理员和回收人员的操作及限制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CE4A3E-F9DF-4446-9F3F-6B6ABEF7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3909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DAB6F6-CD99-4BF9-8088-75DF38DD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3909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30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D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302B"/>
                </a:solidFill>
                <a:latin typeface="Microsoft YaHei"/>
                <a:ea typeface="Microsoft YaHei"/>
                <a:cs typeface="Microsoft YaHei"/>
              </a:rPr>
              <a:t>流程建模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D4675F-D345-4BB0-82C7-7C62A234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6861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定义订单状态和允许的状态转换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46682F-8E6A-401D-A299-04C191A2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3385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780C8F-C8B5-4511-90AD-8E3B5ED8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1338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30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D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302B"/>
                </a:solidFill>
                <a:latin typeface="Microsoft YaHei"/>
                <a:ea typeface="Microsoft YaHei"/>
                <a:cs typeface="Microsoft YaHei"/>
              </a:rPr>
              <a:t>迭代开发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6ED586-F0FB-4902-9B41-8CC3DB6D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4291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按账号、地址、品类、订单和任务逐步实现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BF6826-83FD-457D-8A11-67296151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76800"/>
            <a:ext cx="438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4122B4-E11B-4C0D-91F1-C9443FCA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87680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1D302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1D30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302B"/>
                </a:solidFill>
                <a:latin typeface="Microsoft YaHei"/>
                <a:ea typeface="Microsoft YaHei"/>
                <a:cs typeface="Microsoft YaHei"/>
              </a:rPr>
              <a:t>接口测试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9463740-03DE-4B4E-8DAE-7977C6CD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1720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使用 Apifox 检查认证、参数和业务流程</a:t>
            </a:r>
          </a:p>
        </p:txBody>
      </p:sp>
    </p:spTree>
    <p:extLst>
      <p:ext uri="{BB962C8B-B14F-4D97-AF65-F5344CB8AC3E}">
        <p14:creationId xmlns:p14="http://schemas.microsoft.com/office/powerpoint/2010/main" val="8560785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05AEFD-91EC-4B2F-BF0F-775B8FF2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06 总体设计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A0E7C6-6BBC-40B9-8664-FD56ABF6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51"/>
          </a:bodyPr>
          <a:lstStyle xmlns:a="http://schemas.openxmlformats.org/drawingml/2006/main">
            <a:defPPr algn="l">
              <a:def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系统总体设计：客户端、业务服务与关系数据库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3A129-4D5F-4D30-9B7C-64707ABA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接口统一承载角色操作，服务层校验规则后持久化业务数据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FEFBED-A6E0-440F-93FA-EDF5E7A6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63B7E-47EB-41A9-A849-B69ED987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图图社区 · 社区废旧家电一体化管理系统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A07CD-44D1-4AA9-9FD6-52786DBE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architecture-0">
            <a:extLst xmlns:a="http://schemas.openxmlformats.org/drawingml/2006/main">
              <a:ext uri="{FF2B5EF4-FFF2-40B4-BE49-F238E27FC236}">
                <a16:creationId xmlns:a16="http://schemas.microsoft.com/office/drawing/2014/main" id="{C5580467-E801-4DA2-8550-2804653E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28850"/>
            <a:ext cx="2571750" cy="117157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0E6"/>
          </a:solidFill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0E3D3-8728-4846-875D-AFE86409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47925"/>
            <a:ext cx="2266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Vue 3 客户端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9C58C-AE0C-4853-B53C-53F68A80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051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居民 / 管理员 / 回收人员</a:t>
            </a:r>
          </a:p>
        </p:txBody>
      </p:sp>
      <p:sp>
        <p:nvSpPr>
          <p:cNvPr id="10" name="architecture-1">
            <a:extLst xmlns:a="http://schemas.openxmlformats.org/drawingml/2006/main">
              <a:ext uri="{FF2B5EF4-FFF2-40B4-BE49-F238E27FC236}">
                <a16:creationId xmlns:a16="http://schemas.microsoft.com/office/drawing/2014/main" id="{A88BBDB3-4D6E-4E07-AB2D-76C0268E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28850"/>
            <a:ext cx="2571750" cy="117157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4B3743-7C06-4C13-911C-6DC6B7BA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47925"/>
            <a:ext cx="2266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Spring Boot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18149-2D86-4449-B578-3F3EF2A2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051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认证 · 订单 · 品类 · 统计</a:t>
            </a:r>
          </a:p>
        </p:txBody>
      </p:sp>
      <p:sp>
        <p:nvSpPr>
          <p:cNvPr id="13" name="architecture-2">
            <a:extLst xmlns:a="http://schemas.openxmlformats.org/drawingml/2006/main">
              <a:ext uri="{FF2B5EF4-FFF2-40B4-BE49-F238E27FC236}">
                <a16:creationId xmlns:a16="http://schemas.microsoft.com/office/drawing/2014/main" id="{6C2B494E-ABCC-41A0-8465-DE543261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228850"/>
            <a:ext cx="2571750" cy="117157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0E6"/>
          </a:solidFill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7395E9-A3C2-4BFE-8FD7-B77910C3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47925"/>
            <a:ext cx="2266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MySQL 数据库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658C11-E0C6-4158-BB94-701D7E62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0512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用户 · 地址 · 订单 · 回收记录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4AD3A-D6B8-4C8E-BAB2-C869CA6F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812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HTTPS / 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5AB88C-760A-41B3-B92A-64E262B9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581275"/>
            <a:ext cx="1190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MyBatis-Plus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195CF0-C875-4398-9BBC-A146DC251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800350"/>
            <a:ext cx="1323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7A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8E7E06-8B5F-4BE3-8BB8-CCE71235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00350"/>
            <a:ext cx="1323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7A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4B3E5C-3EF1-461C-8021-65E3EAA8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97192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核心数据关系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11ACD0-E082-4BB8-B43A-E6734F41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29125"/>
            <a:ext cx="6143625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3000"/>
              </a:lnSpc>
              <a:buNone/>
              <a:def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居民 1 ── N 地址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居民 1 ── N 订单 ── N 订单品类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订单 1 ── 1 回收记录 ── N 实际结果明细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  <a:def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订单 1 ── N 状态日志 / 评价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706297-B19C-4B72-A936-F6DE6B91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43350"/>
            <a:ext cx="0" cy="1885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F48608-966A-426C-82C9-FB9EA5E4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7192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设计约束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943174-42D8-4B0C-B093-0D822359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57700"/>
            <a:ext cx="3429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订单保存提交时地址快照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实际结果按品类记录数量与 kg 重量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不记录金额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50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状态变化写入订单日志</a:t>
            </a:r>
          </a:p>
        </p:txBody>
      </p:sp>
    </p:spTree>
    <p:extLst>
      <p:ext uri="{BB962C8B-B14F-4D97-AF65-F5344CB8AC3E}">
        <p14:creationId xmlns:p14="http://schemas.microsoft.com/office/powerpoint/2010/main" val="5087025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3623FB-81A5-438B-8757-8CB37AE5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07 阶段成果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168D4E-B1B4-4829-9C84-51AFE5D7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51"/>
          </a:bodyPr>
          <a:lstStyle xmlns:a="http://schemas.openxmlformats.org/drawingml/2006/main">
            <a:defPPr algn="l">
              <a:def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已有成果与预期效果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28ADB-D327-4C08-969F-D39065A7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当前已形成可运行原型，后续以完整角色闭环作为验收目标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84F1A-939D-4374-8616-9B0E6E4C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7B3F9C-7CA2-4DFD-A675-44228B37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图图社区 · 社区废旧家电一体化管理系统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10372-E939-4C13-9E82-442CD6BC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6BD01C-59C9-491F-8D67-A301F5DB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385377-8284-426E-AC7A-87D01F31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452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97A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4B3CA-6843-44E4-890E-273A5276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FBB33-B9D8-432F-BB16-72F96DAB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5272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需求、用例、总体设计、数据库与接口文档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832A4A-D5D7-4F9E-9BFD-75F279CE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6C1389-3FAD-4535-8F18-65FADCA9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3528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MySQL 建表脚本及 Spring Boot 主要业务接口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E7CF5-B038-4948-831D-CB5D7E7A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8C155-C6F5-473A-97E3-23BA812D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9528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居民注册登录、地址、品类与订单的 Apifox 联调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29E01-C114-49DB-AB50-E6CCD027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815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2D00A-111E-41B7-87C5-5415F046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5295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Vue 3 前端接入真实 API，按角色呈现业务页面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335FCB-31CF-4171-9649-43C976CD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09775"/>
            <a:ext cx="0" cy="3629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C521E9-B0CF-4470-AE71-32E5A38C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28825"/>
            <a:ext cx="285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预期效果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7BA5D1-B292-498D-B4EB-B5000F2B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336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7924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9964FE-FC21-417D-AC43-FF3CB3D6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DE5630-199F-4219-91B4-ADFE58EA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33675"/>
            <a:ext cx="409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居民可在线提交申请并跟踪订单状态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90F38C-5FFA-4CDC-AD91-88962AA7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8137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94D5DB-2F5F-48D8-9A1A-958DCB71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33750"/>
            <a:ext cx="409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管理员在同一工作台审核、分派和处理异常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D2FBE1-261A-4683-91E6-90697F843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D7265C-806A-41B4-8038-DD9B2712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33825"/>
            <a:ext cx="409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回收人员按品类登记实际数量与重量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698035-0D30-43BD-8700-880DDB164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81525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7924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2BC051-01CF-4310-A1FF-8D49BC2D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4095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居民确认结果后完成订单，形成可追溯闭环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45D56F-A398-409F-9BA8-AC11F57B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当前仍需继续验证完整的管理员—回收人员—居民端到端状态流转。</a:t>
            </a:r>
          </a:p>
        </p:txBody>
      </p:sp>
    </p:spTree>
    <p:extLst>
      <p:ext uri="{BB962C8B-B14F-4D97-AF65-F5344CB8AC3E}">
        <p14:creationId xmlns:p14="http://schemas.microsoft.com/office/powerpoint/2010/main" val="2232581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511DFD-CEFB-4BFE-AA2C-8E21E82D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08 实施安排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F4961-AC84-4B55-B54D-DBE801A3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451"/>
          </a:bodyPr>
          <a:lstStyle xmlns:a="http://schemas.openxmlformats.org/drawingml/2006/main">
            <a:defPPr algn="l">
              <a:def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后续研究计划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E4D9A-A0DC-4D27-8E9A-69468219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85875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按业务闭环逐步完成集成、验证与论文整理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52940-0DDF-4E0C-8D57-E4F968CA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0B66E-C12F-4947-A953-5389C8DF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图图社区 · 社区废旧家电一体化管理系统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76D26-FE9B-4CFD-AE0B-119CED72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87948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E73C6C-9E1C-4C80-89A8-B1B67E49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066925"/>
            <a:ext cx="119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阶段一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5AC26-F607-4001-B22A-470117E7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04787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完善角色闭环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9EE82-E893-45A0-8171-299DC05C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05740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管理员审核与分派；回收人员接单、登记结果；居民确认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6DF92-7AF3-42F0-BC9D-9974349A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05100"/>
            <a:ext cx="864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DF9CB-CCB9-4339-BEE1-930BEB07E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48000"/>
            <a:ext cx="119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阶段二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6F2255-BADC-4C8D-9FD6-40E86E38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289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集中验证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C171EE-5B07-471E-9AE5-F715A08B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38475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检查取消边界、权限隔离、异常流程、数据一致性和错误提示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1EE63-72E5-45A2-A950-7B29CB93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86175"/>
            <a:ext cx="864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E9780-C675-4352-AA9B-BF18FEF4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029075"/>
            <a:ext cx="119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阶段三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39FB8-6BAB-414B-AFD0-3AD1CE0E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100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优化与归档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6A0F56-8037-4E73-8E4E-FCC41F9B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019550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修复联调问题，整理部署步骤、测试记录和系统截图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25C3A5-3430-48C3-AB9A-FFF7BC68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67250"/>
            <a:ext cx="8648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5B619A-8A63-447C-80F7-65B91F29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10150"/>
            <a:ext cx="119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97A5B"/>
                </a:solidFill>
                <a:latin typeface="Microsoft YaHei"/>
                <a:ea typeface="Microsoft YaHei"/>
                <a:cs typeface="Microsoft YaHei"/>
              </a:rPr>
              <a:t>阶段四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DB96A8-E660-425E-8D82-5FF75402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9110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3F35"/>
                </a:solidFill>
                <a:latin typeface="Microsoft YaHei"/>
                <a:ea typeface="Microsoft YaHei"/>
                <a:cs typeface="Microsoft YaHei"/>
              </a:rPr>
              <a:t>论文与答辩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ED126B-C4C7-4CB2-8285-A8564867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5000625"/>
            <a:ext cx="609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D5E55"/>
                </a:solidFill>
                <a:latin typeface="Microsoft YaHei"/>
                <a:ea typeface="Microsoft YaHei"/>
                <a:cs typeface="Microsoft YaHei"/>
              </a:rPr>
              <a:t>根据实现过程完善论文，准备演示数据和答辩材料</a:t>
            </a:r>
          </a:p>
        </p:txBody>
      </p:sp>
    </p:spTree>
    <p:extLst>
      <p:ext uri="{BB962C8B-B14F-4D97-AF65-F5344CB8AC3E}">
        <p14:creationId xmlns:p14="http://schemas.microsoft.com/office/powerpoint/2010/main" val="17141429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8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BE054-F9EF-47AC-9AD0-C449A562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7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5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5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C09FD-84A2-4D39-B2B3-E078CB6C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0">
                <a:solidFill>
                  <a:srgbClr val="D3E2D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2175" b="0">
                <a:solidFill>
                  <a:srgbClr val="D3E2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D3E2D0"/>
                </a:solidFill>
                <a:latin typeface="Microsoft YaHei"/>
                <a:ea typeface="Microsoft YaHei"/>
                <a:cs typeface="Microsoft YaHei"/>
              </a:rPr>
              <a:t>请各位老师批评指正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41741-2C7F-47E7-AE49-8D841039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19550"/>
            <a:ext cx="422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5766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0C92E1-CC52-4A4E-96BF-5441EDC9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BCD5B6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0">
                <a:solidFill>
                  <a:srgbClr val="BCD5B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BCD5B6"/>
                </a:solidFill>
                <a:latin typeface="Microsoft YaHei"/>
                <a:ea typeface="Microsoft YaHei"/>
                <a:cs typeface="Microsoft YaHei"/>
              </a:rPr>
              <a:t>基于 Spring Boot 的社区废旧家电一体化管理系统设计与实现</a:t>
            </a:r>
          </a:p>
        </p:txBody>
      </p:sp>
    </p:spTree>
    <p:extLst>
      <p:ext uri="{BB962C8B-B14F-4D97-AF65-F5344CB8AC3E}">
        <p14:creationId xmlns:p14="http://schemas.microsoft.com/office/powerpoint/2010/main" val="711582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2026-10-12T09:56:51.8020000Z</dcterms:created>
  <dcterms:modified xsi:type="dcterms:W3CDTF">2026-10-12T09:56:51.8020000Z</dcterms:modified>
</coreProperties>
</file>